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1652" y="-65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999" cy="4140000"/>
          </a:xfrm>
          <a:prstGeom prst="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180000" y="468000"/>
            <a:ext cx="1152000" cy="1152000"/>
          </a:xfrm>
          <a:prstGeom prst="ellipse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27180000" y="1872000"/>
            <a:ext cx="1152000" cy="1152000"/>
          </a:xfrm>
          <a:prstGeom prst="ellipse">
            <a:avLst/>
          </a:prstGeom>
          <a:solidFill>
            <a:srgbClr val="1B6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108000" y="432000"/>
            <a:ext cx="1296000" cy="122400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108000" y="1835999"/>
            <a:ext cx="1296000" cy="122400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Arial"/>
              </a:rPr>
              <a:t>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482615"/>
            <a:ext cx="25920000" cy="1878770"/>
          </a:xfrm>
          <a:prstGeom prst="rect">
            <a:avLst/>
          </a:prstGeom>
          <a:noFill/>
        </p:spPr>
        <p:txBody>
          <a:bodyPr wrap="square" lIns="54000" tIns="54000" rIns="54000" bIns="5400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0" b="1" dirty="0">
                <a:solidFill>
                  <a:srgbClr val="FFFFFF"/>
                </a:solidFill>
                <a:latin typeface="Arial"/>
              </a:rPr>
              <a:t>THE CLIMATE CAPACITOR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" y="2412000"/>
            <a:ext cx="25920000" cy="72460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000" b="0" i="1" dirty="0">
                <a:solidFill>
                  <a:srgbClr val="CADCFC"/>
                </a:solidFill>
                <a:latin typeface="Arial"/>
              </a:rPr>
              <a:t>Can extreme-weather disasters be predicted as “electrical breakdowns” of accumulated heat?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3276000"/>
            <a:ext cx="28800000" cy="539942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dirty="0">
                <a:solidFill>
                  <a:srgbClr val="FFFFFF"/>
                </a:solidFill>
                <a:latin typeface="Arial"/>
              </a:rPr>
              <a:t>Project 26-1-R-14      ·      Ron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Salama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 &amp; 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Lior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Dagash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     ·      Supervisor: Dr.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Zakharia</a:t>
            </a:r>
            <a:r>
              <a:rPr sz="28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FFFFF"/>
                </a:solidFill>
                <a:latin typeface="Arial"/>
              </a:rPr>
              <a:t>Frenkel</a:t>
            </a:r>
            <a:endParaRPr sz="28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40000" y="4428000"/>
            <a:ext cx="29160000" cy="5472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27999" y="5028581"/>
            <a:ext cx="28440000" cy="786163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dirty="0">
                <a:solidFill>
                  <a:srgbClr val="12233A"/>
                </a:solidFill>
                <a:latin typeface="Arial"/>
              </a:rPr>
              <a:t>1 · BACKGROUND &amp; THE CAPACITOR ANALOGY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999" y="6173011"/>
            <a:ext cx="28440000" cy="3380784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0" dirty="0" smtClean="0">
                <a:solidFill>
                  <a:srgbClr val="1A1A1A"/>
                </a:solidFill>
                <a:latin typeface="Arial"/>
              </a:rPr>
              <a:t>Extreme weather — floods, storms, heatwaves — strikes where energy builds up and suddenly releases. Conventional forecasting simulates atmospheric fluid dynamics; this project tests a different, structural idea: the </a:t>
            </a:r>
            <a:r>
              <a:rPr sz="3200" b="1" dirty="0" smtClean="0">
                <a:solidFill>
                  <a:srgbClr val="C1272D"/>
                </a:solidFill>
                <a:latin typeface="Arial"/>
              </a:rPr>
              <a:t>Climate Capacitor</a:t>
            </a:r>
            <a:r>
              <a:rPr sz="3200" b="0" dirty="0" smtClean="0">
                <a:solidFill>
                  <a:srgbClr val="1A1A1A"/>
                </a:solidFill>
                <a:latin typeface="Arial"/>
              </a:rPr>
              <a:t> analogy, which treats Earth’s surface as one giant capacitor.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 smtClean="0">
                <a:solidFill>
                  <a:srgbClr val="C1272D"/>
                </a:solidFill>
                <a:latin typeface="Arial"/>
              </a:rPr>
              <a:t>●  Thermal charge — </a:t>
            </a:r>
            <a:r>
              <a:rPr sz="3200" b="0" dirty="0" smtClean="0">
                <a:solidFill>
                  <a:srgbClr val="1A1A1A"/>
                </a:solidFill>
                <a:latin typeface="Arial"/>
              </a:rPr>
              <a:t>temperature anomalies (hotter/colder than normal) accumulate in each grid cell.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 smtClean="0">
                <a:solidFill>
                  <a:srgbClr val="1B6CA8"/>
                </a:solidFill>
                <a:latin typeface="Arial"/>
              </a:rPr>
              <a:t>●  Dielectric (terrain) — </a:t>
            </a:r>
            <a:r>
              <a:rPr sz="3200" b="0" dirty="0" smtClean="0">
                <a:solidFill>
                  <a:srgbClr val="1A1A1A"/>
                </a:solidFill>
                <a:latin typeface="Arial"/>
              </a:rPr>
              <a:t>mountains and valleys resist the release of energy (permittivity ε).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 smtClean="0">
                <a:solidFill>
                  <a:srgbClr val="12233A"/>
                </a:solidFill>
                <a:latin typeface="Arial"/>
              </a:rPr>
              <a:t>●  Breakdown — </a:t>
            </a:r>
            <a:r>
              <a:rPr sz="3200" b="0" dirty="0" smtClean="0">
                <a:solidFill>
                  <a:srgbClr val="1A1A1A"/>
                </a:solidFill>
                <a:latin typeface="Arial"/>
              </a:rPr>
              <a:t>a disaster is the “discharge” where the gradient between adjacent hot and cold regions grows too steep for the terrain to contain.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0" i="1" dirty="0" smtClean="0">
                <a:solidFill>
                  <a:srgbClr val="5A6672"/>
                </a:solidFill>
                <a:latin typeface="Arial"/>
              </a:rPr>
              <a:t>Core question: does this electrostatic lens reveal where and when disasters actually strike?</a:t>
            </a:r>
            <a:endParaRPr sz="3200" b="0" i="1" dirty="0">
              <a:solidFill>
                <a:srgbClr val="5A6672"/>
              </a:solidFill>
              <a:latin typeface="Arial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40000" y="10260000"/>
            <a:ext cx="29160000" cy="4680000"/>
          </a:xfrm>
          <a:prstGeom prst="round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7999" y="10404000"/>
            <a:ext cx="19800000" cy="786163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Arial"/>
              </a:rPr>
              <a:t>2 · HOW IT WORKS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00000" y="10440000"/>
            <a:ext cx="13320000" cy="648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r">
              <a:lnSpc>
                <a:spcPct val="100000"/>
              </a:lnSpc>
              <a:spcAft>
                <a:spcPts val="400"/>
              </a:spcAft>
            </a:pPr>
            <a:r>
              <a:rPr sz="2600" b="1" dirty="0">
                <a:solidFill>
                  <a:srgbClr val="CADCFC"/>
                </a:solidFill>
                <a:latin typeface="Arial"/>
              </a:rPr>
              <a:t>breakdown field   E = ‖∇Q‖ / ε</a:t>
            </a:r>
          </a:p>
        </p:txBody>
      </p:sp>
      <p:sp>
        <p:nvSpPr>
          <p:cNvPr id="16" name="Chevron 15"/>
          <p:cNvSpPr/>
          <p:nvPr/>
        </p:nvSpPr>
        <p:spPr>
          <a:xfrm>
            <a:off x="827999" y="11340000"/>
            <a:ext cx="4908000" cy="2232000"/>
          </a:xfrm>
          <a:prstGeom prst="chevron">
            <a:avLst/>
          </a:prstGeom>
          <a:solidFill>
            <a:srgbClr val="C12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Temperature</a:t>
            </a:r>
          </a:p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anomaly</a:t>
            </a:r>
          </a:p>
        </p:txBody>
      </p:sp>
      <p:sp>
        <p:nvSpPr>
          <p:cNvPr id="17" name="Chevron 16"/>
          <p:cNvSpPr/>
          <p:nvPr/>
        </p:nvSpPr>
        <p:spPr>
          <a:xfrm>
            <a:off x="5628000" y="11340000"/>
            <a:ext cx="4908000" cy="2232000"/>
          </a:xfrm>
          <a:prstGeom prst="chevron">
            <a:avLst/>
          </a:prstGeom>
          <a:solidFill>
            <a:srgbClr val="C1272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Accumulate</a:t>
            </a:r>
          </a:p>
          <a:p>
            <a:pPr algn="ctr"/>
            <a:r>
              <a:rPr sz="3200" b="1" dirty="0">
                <a:solidFill>
                  <a:srgbClr val="FFFFFF"/>
                </a:solidFill>
                <a:latin typeface="Arial"/>
              </a:rPr>
              <a:t>charge  Q</a:t>
            </a:r>
          </a:p>
        </p:txBody>
      </p:sp>
      <p:sp>
        <p:nvSpPr>
          <p:cNvPr id="18" name="Chevron 17"/>
          <p:cNvSpPr/>
          <p:nvPr/>
        </p:nvSpPr>
        <p:spPr>
          <a:xfrm>
            <a:off x="10428000" y="11340000"/>
            <a:ext cx="4908000" cy="2232000"/>
          </a:xfrm>
          <a:prstGeom prst="chevron">
            <a:avLst/>
          </a:prstGeom>
          <a:solidFill>
            <a:srgbClr val="1B6C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Terrain</a:t>
            </a: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permittivity ε</a:t>
            </a:r>
          </a:p>
        </p:txBody>
      </p:sp>
      <p:sp>
        <p:nvSpPr>
          <p:cNvPr id="19" name="Chevron 18"/>
          <p:cNvSpPr/>
          <p:nvPr/>
        </p:nvSpPr>
        <p:spPr>
          <a:xfrm>
            <a:off x="15227999" y="11340000"/>
            <a:ext cx="4908000" cy="2232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800" b="1" dirty="0">
                <a:solidFill>
                  <a:srgbClr val="12233A"/>
                </a:solidFill>
                <a:latin typeface="Arial"/>
              </a:rPr>
              <a:t>Breakdown</a:t>
            </a:r>
          </a:p>
          <a:p>
            <a:pPr algn="ctr"/>
            <a:r>
              <a:rPr sz="2800" b="1" dirty="0">
                <a:solidFill>
                  <a:srgbClr val="12233A"/>
                </a:solidFill>
                <a:latin typeface="Arial"/>
              </a:rPr>
              <a:t>field  E</a:t>
            </a:r>
          </a:p>
        </p:txBody>
      </p:sp>
      <p:sp>
        <p:nvSpPr>
          <p:cNvPr id="20" name="Chevron 19"/>
          <p:cNvSpPr/>
          <p:nvPr/>
        </p:nvSpPr>
        <p:spPr>
          <a:xfrm>
            <a:off x="20028000" y="11340000"/>
            <a:ext cx="4908000" cy="2232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Cluster into</a:t>
            </a:r>
          </a:p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events</a:t>
            </a:r>
          </a:p>
        </p:txBody>
      </p:sp>
      <p:sp>
        <p:nvSpPr>
          <p:cNvPr id="21" name="Chevron 20"/>
          <p:cNvSpPr/>
          <p:nvPr/>
        </p:nvSpPr>
        <p:spPr>
          <a:xfrm>
            <a:off x="24828000" y="11340000"/>
            <a:ext cx="4908000" cy="2232000"/>
          </a:xfrm>
          <a:prstGeom prst="chevron">
            <a:avLst/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Validate vs</a:t>
            </a:r>
          </a:p>
          <a:p>
            <a:pPr algn="ctr"/>
            <a:r>
              <a:rPr sz="3200" b="1" dirty="0">
                <a:solidFill>
                  <a:srgbClr val="12233A"/>
                </a:solidFill>
                <a:latin typeface="Arial"/>
              </a:rPr>
              <a:t>disasters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999" y="13716000"/>
            <a:ext cx="28440000" cy="47838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dirty="0">
                <a:solidFill>
                  <a:srgbClr val="CADCFC"/>
                </a:solidFill>
                <a:latin typeface="Arial"/>
              </a:rPr>
              <a:t>Charge is accumulated over a sliding 30-day window; the breakdown field is its spatial gradient divided by terrain permittivity. High-stress cells are clustered into events and matched against real disasters.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0000" y="15480000"/>
            <a:ext cx="14310000" cy="6840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15210000" y="15480000"/>
            <a:ext cx="14310000" cy="6840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7999" y="15624000"/>
            <a:ext cx="13950000" cy="576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dirty="0">
                <a:solidFill>
                  <a:srgbClr val="12233A"/>
                </a:solidFill>
                <a:latin typeface="Arial"/>
              </a:rPr>
              <a:t>3 · SYSTEM REQUIREMENTS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" y="16236000"/>
            <a:ext cx="13806000" cy="5585426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C1272D"/>
                </a:solidFill>
                <a:latin typeface="Arial"/>
              </a:rPr>
              <a:t>Functional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Ingest 10 </a:t>
            </a:r>
            <a:r>
              <a:rPr sz="2400" b="0" dirty="0" err="1">
                <a:solidFill>
                  <a:srgbClr val="1A1A1A"/>
                </a:solidFill>
                <a:latin typeface="Arial"/>
              </a:rPr>
              <a:t>yrs</a:t>
            </a:r>
            <a:r>
              <a:rPr sz="2400" b="0" dirty="0">
                <a:solidFill>
                  <a:srgbClr val="1A1A1A"/>
                </a:solidFill>
                <a:latin typeface="Arial"/>
              </a:rPr>
              <a:t> of global ERA5 temperature + terrain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Compute anomalies vs a day-of-year climatology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Accumulate thermal charge; map terrain → ε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Build the breakdown field; flag &amp; cluster zones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Cross-reference zones with a disaster database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Generate global risk / validation maps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B6CA8"/>
                </a:solidFill>
                <a:latin typeface="Arial"/>
              </a:rPr>
              <a:t>Non-functional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Scale to global 10-yr data with no memory overflow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A full run completes in minutes on normal hardware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Modular &amp; </a:t>
            </a:r>
            <a:r>
              <a:rPr sz="2400" b="0" dirty="0" err="1">
                <a:solidFill>
                  <a:srgbClr val="1A1A1A"/>
                </a:solidFill>
                <a:latin typeface="Arial"/>
              </a:rPr>
              <a:t>config</a:t>
            </a:r>
            <a:r>
              <a:rPr sz="2400" b="0" dirty="0">
                <a:solidFill>
                  <a:srgbClr val="1A1A1A"/>
                </a:solidFill>
                <a:latin typeface="Arial"/>
              </a:rPr>
              <a:t>-driven — any formula is swappable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400" b="0" dirty="0">
                <a:solidFill>
                  <a:srgbClr val="1A1A1A"/>
                </a:solidFill>
                <a:latin typeface="Arial"/>
              </a:rPr>
              <a:t>●  Auditable — trace any breakdown back to raw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497999" y="15624000"/>
            <a:ext cx="13950000" cy="576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800" b="1" dirty="0">
                <a:solidFill>
                  <a:srgbClr val="12233A"/>
                </a:solidFill>
                <a:latin typeface="Arial"/>
              </a:rPr>
              <a:t>4 · TOOLS &amp; TECHNOLOGIES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497999" y="16236000"/>
            <a:ext cx="13806000" cy="539357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Language: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Python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Data engine: 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xarray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+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dask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</a:t>
            </a:r>
            <a:endParaRPr lang="he-IL" sz="3200" b="0" dirty="0" smtClean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 smtClean="0">
                <a:solidFill>
                  <a:srgbClr val="1A1A1A"/>
                </a:solidFill>
                <a:latin typeface="Arial"/>
              </a:rPr>
              <a:t>●  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Climate + terrain: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ERA5 via WeatherBench2 — public cloud, streamed </a:t>
            </a:r>
            <a:r>
              <a:rPr sz="3200" b="1" dirty="0" smtClean="0">
                <a:solidFill>
                  <a:srgbClr val="1A1A1A"/>
                </a:solidFill>
                <a:latin typeface="Arial"/>
              </a:rPr>
              <a:t>●  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Disasters: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EM-DAT (dates) + GDIS (precise coordinates)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Analysis: 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SciPy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,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scikit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-learn /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ndimage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 (clustering),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NumPy</a:t>
            </a:r>
            <a:endParaRPr sz="32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A1A1A"/>
                </a:solidFill>
                <a:latin typeface="Arial"/>
              </a:rPr>
              <a:t>●  Stats &amp; </a:t>
            </a:r>
            <a:r>
              <a:rPr sz="3200" b="1" dirty="0" err="1">
                <a:solidFill>
                  <a:srgbClr val="1A1A1A"/>
                </a:solidFill>
                <a:latin typeface="Arial"/>
              </a:rPr>
              <a:t>viz</a:t>
            </a:r>
            <a:r>
              <a:rPr sz="3200" b="1" dirty="0">
                <a:solidFill>
                  <a:srgbClr val="1A1A1A"/>
                </a:solidFill>
                <a:latin typeface="Arial"/>
              </a:rPr>
              <a:t>:  </a:t>
            </a:r>
            <a:r>
              <a:rPr sz="3200" b="0" dirty="0">
                <a:solidFill>
                  <a:srgbClr val="1A1A1A"/>
                </a:solidFill>
                <a:latin typeface="Arial"/>
              </a:rPr>
              <a:t>pandas, </a:t>
            </a:r>
            <a:r>
              <a:rPr sz="3200" b="0" dirty="0" err="1">
                <a:solidFill>
                  <a:srgbClr val="1A1A1A"/>
                </a:solidFill>
                <a:latin typeface="Arial"/>
              </a:rPr>
              <a:t>Matplotlib</a:t>
            </a:r>
            <a:endParaRPr sz="3200" b="0" dirty="0">
              <a:solidFill>
                <a:srgbClr val="1A1A1A"/>
              </a:solidFill>
              <a:latin typeface="Arial"/>
            </a:endParaRP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200" b="1" dirty="0">
                <a:solidFill>
                  <a:srgbClr val="1B6CA8"/>
                </a:solidFill>
                <a:latin typeface="Arial"/>
              </a:rPr>
              <a:t>Six-stage pipeline, one </a:t>
            </a:r>
            <a:r>
              <a:rPr sz="3200" b="1" dirty="0" err="1">
                <a:solidFill>
                  <a:srgbClr val="1B6CA8"/>
                </a:solidFill>
                <a:latin typeface="Arial"/>
              </a:rPr>
              <a:t>config</a:t>
            </a:r>
            <a:r>
              <a:rPr sz="3200" b="1" dirty="0">
                <a:solidFill>
                  <a:srgbClr val="1B6CA8"/>
                </a:solidFill>
                <a:latin typeface="Arial"/>
              </a:rPr>
              <a:t> file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data → anomaly → charge → permittivity → breakdown → events → validation. Every knob (terrain weighting, timescale, thresholds) lives in one </a:t>
            </a:r>
            <a:r>
              <a:rPr sz="2800" b="0" dirty="0" err="1">
                <a:solidFill>
                  <a:srgbClr val="5A6672"/>
                </a:solidFill>
                <a:latin typeface="Arial"/>
              </a:rPr>
              <a:t>config</a:t>
            </a:r>
            <a:r>
              <a:rPr sz="2800" b="0" dirty="0">
                <a:solidFill>
                  <a:srgbClr val="5A6672"/>
                </a:solidFill>
                <a:latin typeface="Arial"/>
              </a:rPr>
              <a:t>, enabling systematic experiments.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0000" y="22860000"/>
            <a:ext cx="29160000" cy="10440000"/>
          </a:xfrm>
          <a:prstGeom prst="roundRect">
            <a:avLst/>
          </a:prstGeom>
          <a:solidFill>
            <a:srgbClr val="F3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716999" y="23004000"/>
            <a:ext cx="28440000" cy="576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000" b="1" dirty="0">
                <a:solidFill>
                  <a:srgbClr val="12233A"/>
                </a:solidFill>
                <a:latin typeface="Arial"/>
              </a:rPr>
              <a:t>5 · RESULTS &amp;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000" y="25254000"/>
            <a:ext cx="6480000" cy="1080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 dirty="0">
                <a:solidFill>
                  <a:srgbClr val="C1272D"/>
                </a:solidFill>
                <a:latin typeface="Arial"/>
              </a:rPr>
              <a:t>~1–3%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000" y="26227575"/>
            <a:ext cx="6480000" cy="1022125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Recall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(target &gt; 30%)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21999" y="25228800"/>
            <a:ext cx="6480000" cy="1080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600" b="1">
                <a:solidFill>
                  <a:srgbClr val="C1272D"/>
                </a:solidFill>
                <a:latin typeface="Arial"/>
              </a:rPr>
              <a:t>&lt; 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21999" y="26308800"/>
            <a:ext cx="6480000" cy="1022125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Precision</a:t>
            </a:r>
          </a:p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(target &gt; 10%)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67997" y="28769060"/>
            <a:ext cx="11208001" cy="2520000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dirty="0">
                <a:solidFill>
                  <a:srgbClr val="1A1A1A"/>
                </a:solidFill>
                <a:latin typeface="Arial"/>
              </a:rPr>
              <a:t>Statistically “significant” but practically negligible — huge p-values are a sample-size effect, not real skill. The analogy did </a:t>
            </a:r>
            <a:r>
              <a:rPr sz="2800" b="1" dirty="0">
                <a:solidFill>
                  <a:srgbClr val="C1272D"/>
                </a:solidFill>
                <a:latin typeface="Arial"/>
              </a:rPr>
              <a:t>not</a:t>
            </a:r>
            <a:r>
              <a:rPr sz="2800" b="0" dirty="0">
                <a:solidFill>
                  <a:srgbClr val="1A1A1A"/>
                </a:solidFill>
                <a:latin typeface="Arial"/>
              </a:rPr>
              <a:t> meet any success target.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Terrain (the “dielectric”) added almost nothing; and finer resolution, precise GDIS coordinates, and precursor-timing did not help either. The high-stress zones and real disasters occupy different places.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327899" y="31415087"/>
            <a:ext cx="17420201" cy="47838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400" b="0" i="1" dirty="0">
                <a:solidFill>
                  <a:srgbClr val="5A6672"/>
                </a:solidFill>
                <a:latin typeface="Arial"/>
              </a:rPr>
              <a:t>Predicted breakdown zones (red) vs. real disasters (blue): they mostly occupy different places — the core of the negative result.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40000" y="33660000"/>
            <a:ext cx="29160000" cy="5400000"/>
          </a:xfrm>
          <a:prstGeom prst="roundRect">
            <a:avLst/>
          </a:prstGeom>
          <a:solidFill>
            <a:srgbClr val="12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27999" y="33804000"/>
            <a:ext cx="28440000" cy="786163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Arial"/>
              </a:rPr>
              <a:t>6 · CHALLENGES &amp; CONSTRAINTS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3999" y="35075967"/>
            <a:ext cx="28440000" cy="364726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Data volume (terabytes)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streamed coarse, daily, single-variable from the cloud (~1 GB); no local hoarding.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Runtime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parallel cloud fetch + connected-component clustering → minutes, not hours.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Disaster geolocation gap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EM-DAT </a:t>
            </a:r>
            <a:r>
              <a:rPr sz="4000" b="0" dirty="0" err="1">
                <a:solidFill>
                  <a:srgbClr val="FFFFFF"/>
                </a:solidFill>
                <a:latin typeface="Arial"/>
              </a:rPr>
              <a:t>coords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 were mostly missing; joined GDIS coordinates to EM-DAT dates.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Memory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float32 + local caching; the fine 0.7° grid needs ≥ 32 GB RAM (it blue-screened a 16 GB laptop).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4000" b="1" dirty="0">
                <a:solidFill>
                  <a:srgbClr val="CADCFC"/>
                </a:solidFill>
                <a:latin typeface="Arial"/>
              </a:rPr>
              <a:t>●  Method artifacts — </a:t>
            </a:r>
            <a:r>
              <a:rPr sz="4000" b="0" dirty="0">
                <a:solidFill>
                  <a:srgbClr val="FFFFFF"/>
                </a:solidFill>
                <a:latin typeface="Arial"/>
              </a:rPr>
              <a:t>km-based gradient + polar masking; the strict 100 km metric is near-impossible below grid scale.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39312000"/>
            <a:ext cx="30275999" cy="3492000"/>
          </a:xfrm>
          <a:prstGeom prst="rect">
            <a:avLst/>
          </a:prstGeom>
          <a:solidFill>
            <a:srgbClr val="C127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7999" y="39492000"/>
            <a:ext cx="28440000" cy="847718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800" b="1" dirty="0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7999" y="40672226"/>
            <a:ext cx="28440000" cy="1813817"/>
          </a:xfrm>
          <a:prstGeom prst="rect">
            <a:avLst/>
          </a:prstGeom>
          <a:noFill/>
        </p:spPr>
        <p:txBody>
          <a:bodyPr wrap="square" lIns="54000" tIns="54000" rIns="54000" bIns="54000" anchor="t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3600" b="0" dirty="0">
                <a:solidFill>
                  <a:srgbClr val="FFFFFF"/>
                </a:solidFill>
                <a:latin typeface="Arial"/>
              </a:rPr>
              <a:t>The Climate Capacitor analogy does not usefully predict real disasters — its high-stress zones and actual events largely diverge, and the terrain component adds little. This is a clear, </a:t>
            </a:r>
            <a:r>
              <a:rPr sz="3600" b="1" dirty="0">
                <a:solidFill>
                  <a:srgbClr val="FFFFFF"/>
                </a:solidFill>
                <a:latin typeface="Arial"/>
              </a:rPr>
              <a:t>valuable negative result</a:t>
            </a:r>
            <a:r>
              <a:rPr sz="3600" b="0" dirty="0">
                <a:solidFill>
                  <a:srgbClr val="FFFFFF"/>
                </a:solidFill>
                <a:latin typeface="Arial"/>
              </a:rPr>
              <a:t>: it maps the limits of applying electrostatic physics to climate, showing that heat-accumulation gradients alone do not determine where catastrophes strike.</a:t>
            </a:r>
          </a:p>
        </p:txBody>
      </p:sp>
      <p:pic>
        <p:nvPicPr>
          <p:cNvPr id="44" name="Picture 43" descr="predicted_vs_actual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7999" y="23003600"/>
            <a:ext cx="16820000" cy="841000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73950" y="31637967"/>
            <a:ext cx="11520000" cy="432000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dirty="0">
                <a:solidFill>
                  <a:srgbClr val="12233A"/>
                </a:solidFill>
                <a:latin typeface="Arial"/>
              </a:rPr>
              <a:t>Daily statistic tested — recall @ 500 km: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04000" y="31986802"/>
            <a:ext cx="3456000" cy="118069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 dirty="0">
                <a:solidFill>
                  <a:srgbClr val="5A6672"/>
                </a:solidFill>
                <a:latin typeface="Arial"/>
              </a:rPr>
              <a:t>mean</a:t>
            </a:r>
          </a:p>
          <a:p>
            <a:pPr algn="ctr">
              <a:lnSpc>
                <a:spcPct val="100000"/>
              </a:lnSpc>
            </a:pPr>
            <a:r>
              <a:rPr sz="4400" b="1" dirty="0">
                <a:solidFill>
                  <a:srgbClr val="5A6672"/>
                </a:solidFill>
                <a:latin typeface="Arial"/>
              </a:rPr>
              <a:t>3.5%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04000" y="31986802"/>
            <a:ext cx="3456000" cy="118069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dirty="0">
                <a:solidFill>
                  <a:srgbClr val="C1272D"/>
                </a:solidFill>
                <a:latin typeface="Arial"/>
              </a:rPr>
              <a:t>max  (best)</a:t>
            </a:r>
          </a:p>
          <a:p>
            <a:pPr algn="ctr">
              <a:lnSpc>
                <a:spcPct val="100000"/>
              </a:lnSpc>
            </a:pPr>
            <a:r>
              <a:rPr sz="4400" b="1" dirty="0">
                <a:solidFill>
                  <a:srgbClr val="C1272D"/>
                </a:solidFill>
                <a:latin typeface="Arial"/>
              </a:rPr>
              <a:t>4.8%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04000" y="31986802"/>
            <a:ext cx="3456000" cy="118069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0">
                <a:solidFill>
                  <a:srgbClr val="5A6672"/>
                </a:solidFill>
                <a:latin typeface="Arial"/>
              </a:rPr>
              <a:t>min</a:t>
            </a:r>
          </a:p>
          <a:p>
            <a:pPr algn="ctr">
              <a:lnSpc>
                <a:spcPct val="100000"/>
              </a:lnSpc>
            </a:pPr>
            <a:r>
              <a:rPr sz="4400" b="1">
                <a:solidFill>
                  <a:srgbClr val="5A6672"/>
                </a:solidFill>
                <a:latin typeface="Arial"/>
              </a:rPr>
              <a:t>3.0%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1251" y="24749196"/>
            <a:ext cx="11781999" cy="395869"/>
          </a:xfrm>
          <a:prstGeom prst="rect">
            <a:avLst/>
          </a:prstGeom>
          <a:noFill/>
        </p:spPr>
        <p:txBody>
          <a:bodyPr wrap="square" lIns="36000" tIns="36000" rIns="36000" bIns="36000">
            <a:spAutoFit/>
          </a:bodyPr>
          <a:lstStyle/>
          <a:p>
            <a:pPr>
              <a:lnSpc>
                <a:spcPct val="105000"/>
              </a:lnSpc>
            </a:pPr>
            <a:r>
              <a:rPr sz="2000" b="1" dirty="0">
                <a:solidFill>
                  <a:srgbClr val="5A6672"/>
                </a:solidFill>
                <a:latin typeface="Arial"/>
              </a:rPr>
              <a:t>Recall</a:t>
            </a:r>
            <a:r>
              <a:rPr sz="2000" b="0" dirty="0">
                <a:solidFill>
                  <a:srgbClr val="5A6672"/>
                </a:solidFill>
                <a:latin typeface="Arial"/>
              </a:rPr>
              <a:t> = share of real disasters we caught. </a:t>
            </a:r>
            <a:r>
              <a:rPr lang="he-IL" sz="2000" b="0" dirty="0" smtClean="0">
                <a:solidFill>
                  <a:srgbClr val="5A6672"/>
                </a:solidFill>
                <a:latin typeface="Arial"/>
              </a:rPr>
              <a:t>          </a:t>
            </a:r>
            <a:r>
              <a:rPr sz="2000" b="0" dirty="0" smtClean="0">
                <a:solidFill>
                  <a:srgbClr val="5A6672"/>
                </a:solidFill>
                <a:latin typeface="Arial"/>
              </a:rPr>
              <a:t>  </a:t>
            </a:r>
            <a:r>
              <a:rPr sz="2000" b="1" dirty="0">
                <a:solidFill>
                  <a:srgbClr val="5A6672"/>
                </a:solidFill>
                <a:latin typeface="Arial"/>
              </a:rPr>
              <a:t>Precision</a:t>
            </a:r>
            <a:r>
              <a:rPr sz="2000" b="0" dirty="0">
                <a:solidFill>
                  <a:srgbClr val="5A6672"/>
                </a:solidFill>
                <a:latin typeface="Arial"/>
              </a:rPr>
              <a:t> = share of our alarms that were correct.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749</Words>
  <Application>Microsoft Office PowerPoint</Application>
  <PresentationFormat>מותאם אישית</PresentationFormat>
  <Paragraphs>73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subject/>
  <dc:creator/>
  <cp:keywords/>
  <dc:description>generated using python-pptx</dc:description>
  <cp:lastModifiedBy>User</cp:lastModifiedBy>
  <cp:revision>7</cp:revision>
  <dcterms:created xsi:type="dcterms:W3CDTF">2013-01-27T09:14:16Z</dcterms:created>
  <dcterms:modified xsi:type="dcterms:W3CDTF">2026-07-01T18:44:13Z</dcterms:modified>
  <cp:category/>
</cp:coreProperties>
</file>